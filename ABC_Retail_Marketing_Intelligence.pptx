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
[Sources]
- Job Description - Team Lead - Data Intelligence.pdf (user-supplied)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Job Description - Team Lead - Data Intelligence.pdf (user-supplied)
[/Sources]
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Job Description - Team Lead - Data Intelligence.pdf (user-supplied)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
[Sources]
- Job Description - Team Lead - Data Intelligence.pdf (user-supplied)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Job Description - Team Lead - Data Intelligence.pdf (user-supplied)
[/Sources]
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ABC Retail Sales Analysis - Case Study.docx (user-supplied case brief)
- Retail Sales Case Study.xlsx (user-supplied dataset; 36 monthly observations and quarterly GDP)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RETAIL | MARKETING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0" y="219456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ABINASH SAHU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366760" y="137160"/>
            <a:ext cx="3566160" cy="3566160"/>
          </a:xfrm>
          <a:prstGeom prst="arc">
            <a:avLst/>
          </a:prstGeom>
          <a:solidFill>
            <a:srgbClr val="123E75">
              <a:alpha val="85000"/>
            </a:srgbClr>
          </a:solidFill>
          <a:ln w="12700">
            <a:solidFill>
              <a:srgbClr val="123E7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0">
            <a:off x="9464040" y="3977640"/>
            <a:ext cx="2286000" cy="2286000"/>
          </a:xfrm>
          <a:prstGeom prst="arc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Marketing Intelligence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9F1"/>
                </a:solidFill>
              </a:rPr>
              <a:t>From media spend to defensible growth decisions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4944" y="27614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ABC Retail Sales Analysis | Team Lead, Data Intelligence case study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" y="3236976"/>
            <a:ext cx="1874520" cy="1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F1"/>
                </a:solidFill>
              </a:rPr>
              <a:t>Prepared by Abinash Sahu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9F1"/>
                </a:solidFill>
              </a:rPr>
              <a:t>13 August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6760" y="13167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</a:rPr>
              <a:t>DECISION THESIS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66760" y="1673352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what is measurable.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where it is uncertain.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Govern every model decision.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Executive answer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evidence points to a focused, test-and-learn media strategy, not an across-the-board increase.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7860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64792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01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SCALE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DIGITAL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Strongest driver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β = 0.82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572768"/>
            <a:ext cx="257860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764792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801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VALIDATE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7872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RADIO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7872" y="24505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Positive association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7872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β = 0.57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1572768"/>
            <a:ext cx="257860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764792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801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HOLD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64224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TV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4224" y="24505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No detected lift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64224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β = -0.04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15984" y="1572768"/>
            <a:ext cx="257860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0576" y="1764792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01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MONITOR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80576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GDP / COVID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0576" y="24505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No independent signal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80576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 &gt; 0.56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3822192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B1F3A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096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Leadership recommendation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822192" y="4041648"/>
            <a:ext cx="726948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A"/>
                </a:solidFill>
              </a:rPr>
              <a:t>Protect and optimize Digital investment.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A"/>
                </a:solidFill>
              </a:rPr>
              <a:t>Use a controlled experiment to confirm Radio incrementality.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A"/>
                </a:solidFill>
              </a:rPr>
              <a:t>Do not add TV budget until tracking, units and lift are validated.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A"/>
                </a:solidFill>
              </a:rPr>
              <a:t>Treat the model as a decision aid; 36 observations are not causal proof.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51023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7D4"/>
                </a:solidFill>
              </a:rPr>
              <a:t>Model: Adj. R² 0.85 | LOOCV R² 0.73 | MAE $33.7M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A senior-lead approach: decision first, model second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workflow explicitly separates data quality, inference, prediction and business 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1609344" cy="1965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4088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FRAME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28163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decision changes?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2496312"/>
            <a:ext cx="128016" cy="365760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2304" y="1719072"/>
            <a:ext cx="1609344" cy="1965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5117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9464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9464" y="28163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Units, grain, missingness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05656" y="2496312"/>
            <a:ext cx="128016" cy="365760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719072"/>
            <a:ext cx="1609344" cy="1965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1655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34840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ENGINEER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28163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GDP, COVID phases, trend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71032" y="2496312"/>
            <a:ext cx="128016" cy="365760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719072"/>
            <a:ext cx="1609344" cy="1965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8192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0216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ESTIMATE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0216" y="28163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OLS + HC3 inference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36408" y="2496312"/>
            <a:ext cx="128016" cy="365760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8432" y="1719072"/>
            <a:ext cx="1609344" cy="1965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4730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65592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CHALLENGE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65592" y="28163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LOOCV Ridge sanity check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01784" y="2496312"/>
            <a:ext cx="128016" cy="365760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3808" y="1719072"/>
            <a:ext cx="1609344" cy="1965960"/>
          </a:xfrm>
          <a:prstGeom prst="roundRect">
            <a:avLst>
              <a:gd name="adj" fmla="val 4545"/>
            </a:avLst>
          </a:prstGeom>
          <a:solidFill>
            <a:srgbClr val="E8F8F5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126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30968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30968" y="28163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Scale, test, hold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069080"/>
            <a:ext cx="11064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Why this is credible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907792" y="4233672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33A"/>
                </a:solidFill>
              </a:rPr>
              <a:t>HC3 robust errors reduce sensitivity to unequal variance. Standardized coefficients compare channels on a common scale. Leave-one-out validation tests whether fit survives when each month is unseen. Recommendations retain an explicit causal caveat.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Python stack: pandas, statsmodels, scikit-learn and matplotlib. Reproducible source code included.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Sales are volatile, with no simple COVID break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Q3 2020 was weaker than lockdown Q2, but media spend also fell sharply.</a:t>
            </a:r>
            <a:endParaRPr lang="en-US" sz="1150" dirty="0"/>
          </a:p>
        </p:txBody>
      </p:sp>
      <p:pic>
        <p:nvPicPr>
          <p:cNvPr id="4" name="Image 0" descr="/mnt/data/lkq_work/monthly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66718"/>
            <a:ext cx="7635240" cy="28617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481328"/>
            <a:ext cx="3136392" cy="38862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Observed phase averages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0" y="224028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Lockdown Q2-20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222992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$231.6M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22992" y="24963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avg/month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302666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Relaxation Q3-20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222992" y="29992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$178.8M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22992" y="32826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avg/month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686800" y="3813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Other months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222992" y="37856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$250.6M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22992" y="40690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avg/month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686800" y="459028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0" y="488289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The timing alone cannot isolate a COVID effect. Marketing mix and omitted retail drivers changed simultaneously.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Digital is the clearest channel signal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Raw relationships show Digital is strong, Radio is moderate and TV is weak.</a:t>
            </a:r>
            <a:endParaRPr lang="en-US" sz="1150" dirty="0"/>
          </a:p>
        </p:txBody>
      </p:sp>
      <p:pic>
        <p:nvPicPr>
          <p:cNvPr id="4" name="Image 0" descr="/mnt/data/lkq_work/channel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13312"/>
            <a:ext cx="10972800" cy="3477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559552"/>
            <a:ext cx="10561320" cy="484632"/>
          </a:xfrm>
          <a:prstGeom prst="roundRect">
            <a:avLst>
              <a:gd name="adj" fmla="val 1509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5705856"/>
            <a:ext cx="1016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Business read: prioritize Digital optimization, validate Radio with experiments, and diagnose TV measurement before further investment.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The controlled model confirms the ranking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Standardized effects include GDP, COVID phases and trend; p-values use HC3 robust errors.</a:t>
            </a:r>
            <a:endParaRPr lang="en-US" sz="1150" dirty="0"/>
          </a:p>
        </p:txBody>
      </p:sp>
      <p:pic>
        <p:nvPicPr>
          <p:cNvPr id="4" name="Image 0" descr="/mnt/data/lkq_work/standardized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67611"/>
            <a:ext cx="6720840" cy="35513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481328"/>
            <a:ext cx="4050792" cy="4133088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90688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Interpretation by channel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90688" y="2249424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45552" y="2286000"/>
            <a:ext cx="850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DIGITAL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869680" y="22219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Largest stable positive effect; coefficient remains highly significant after controls.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90688" y="296265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45552" y="2999232"/>
            <a:ext cx="850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RADIO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6968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Positive and significant, but causal lift still requires a holdout design.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90688" y="3675888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45552" y="3712464"/>
            <a:ext cx="850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TV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869680" y="36393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Near-zero standardized effect with wide uncertainty. “No evidence” is not proof of no effect.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90688" y="4572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Robustness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90688" y="48737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Adj. R² 0.85; leave-one-out R² 0.73. Predictive signal survives out-of-sample testing.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GDP and COVID do not add reliable explanatory power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extreme Q2/Q3 2020 GDP swing does not map consistently to quarterly sales.</a:t>
            </a:r>
            <a:endParaRPr lang="en-US" sz="1150" dirty="0"/>
          </a:p>
        </p:txBody>
      </p:sp>
      <p:pic>
        <p:nvPicPr>
          <p:cNvPr id="4" name="Image 0" descr="/mnt/data/lkq_work/quarter_gdp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74614"/>
            <a:ext cx="7543800" cy="28916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81328"/>
            <a:ext cx="3227832" cy="4133088"/>
          </a:xfrm>
          <a:prstGeom prst="roundRect">
            <a:avLst>
              <a:gd name="adj" fmla="val 226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13648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Controlled estimates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13648" y="2304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A"/>
                </a:solidFill>
              </a:rPr>
              <a:t>GDP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02368" y="23042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 = 0.57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13648" y="258775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Not significant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13648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A"/>
                </a:solidFill>
              </a:rPr>
              <a:t>Lockdown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02368" y="30540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 = 0.84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13648" y="3337560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Not significant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13648" y="3803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A"/>
                </a:solidFill>
              </a:rPr>
              <a:t>Relaxation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02368" y="3803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 = 0.66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13648" y="408736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Not significant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13648" y="4645152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What leaders should conclude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13648" y="49103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Macro conditions matter conceptually, but this small sample cannot identify an independent effect. Add inflation, unemployment, mobility and consumer sentiment only after increasing history and controlling seasonality.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Convert evidence into a governed budget decision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recommendation is staged to protect growth while creating causal learning.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470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Protect Digital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Maintain core spend; optimize audience, creative and conversion.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2743200" cy="1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72768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810512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18470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07992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Validate Radio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07992" y="28803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Run geo or audience holdouts; predefine incremental revenue KPI.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07992" y="3886200"/>
            <a:ext cx="2743200" cy="1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572768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810512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8470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HOLD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38744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Diagnose TV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38744" y="28803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Pause incremental budget; verify the “thousands” unit and tracking.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38744" y="3886200"/>
            <a:ext cx="2743200" cy="1"/>
          </a:xfrm>
          <a:prstGeom prst="line">
            <a:avLst/>
          </a:prstGeom>
          <a:noFill/>
          <a:ln w="508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645152"/>
            <a:ext cx="11064240" cy="1069848"/>
          </a:xfrm>
          <a:prstGeom prst="roundRect">
            <a:avLst>
              <a:gd name="adj" fmla="val 6838"/>
            </a:avLst>
          </a:prstGeom>
          <a:solidFill>
            <a:srgbClr val="0B1F3A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9011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Decision guardrail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97480" y="4846320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4E2F2"/>
                </a:solidFill>
              </a:rPr>
              <a:t>Do not present regression coefficients as guaranteed ROI. Approve budget changes only with confidence ranges, test design, owner, expected benefit and rollback trigger.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Productize the analysis as an AI decision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SaaS-style prototype connects governed data, models, explanations and leadership actions.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92024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DATA CONTRACT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Spend, sales, price, promo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2032" y="2286000"/>
            <a:ext cx="274320" cy="521208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92024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53512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FEATURE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44368" y="25420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Lag, carryover, saturation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274320" cy="521208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92024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57800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MODEL FACTORY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25420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MMM, forecasts, experiments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50608" y="2286000"/>
            <a:ext cx="274320" cy="521208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192024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E8F8F5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62088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AI ANALYST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52944" y="25420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Explain, challenge, simulate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54896" y="2286000"/>
            <a:ext cx="274320" cy="521208"/>
          </a:xfrm>
          <a:prstGeom prst="chevron">
            <a:avLst/>
          </a:prstGeom>
          <a:solidFill>
            <a:srgbClr val="DCE5F0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192024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66376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DECISION 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57232" y="25420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33A"/>
                </a:solidFill>
              </a:rPr>
              <a:t>Approve, monitor, learn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794760"/>
            <a:ext cx="25420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" y="404164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Explainability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" y="441655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Coefficient ranges, driver lineage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55848" y="3794760"/>
            <a:ext cx="25420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11296" y="404164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11296" y="441655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Human approval and audit trail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44768" y="3794760"/>
            <a:ext cx="25420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0216" y="404164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0216" y="441655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Drift, data quality and SLA alerts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33688" y="3794760"/>
            <a:ext cx="25420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89136" y="404164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Reuse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89136" y="441655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One semantic model for BI and AI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The included HTML prototype demonstrates the executive cockpit and scenario sandbox.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MLOps and operating model make the solution scalable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This directly addresses production reliability, team leadership and stakeholder adoption.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0F5FB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4650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737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Category /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1737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Define decision, KPI and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Monthly value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6032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277063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761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Engineering /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2761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Trusted pipeline and contracts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2761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Data quality SLA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8444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0F5FB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" y="37947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SCIENCE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37856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Analysts / 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1960" y="37856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Model, validate, explain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7856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Model card + peer 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0857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" y="481888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PLATFORM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48097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Fabric / MLOps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4809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A"/>
                </a:solidFill>
              </a:rPr>
              <a:t>Deploy, monitor, retrain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8097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Drift + retraining trigger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779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Team Lead cadence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5751576"/>
            <a:ext cx="8915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Weekly delivery stand-up | Fortnightly model review | Monthly stakeholder value review | Quarterly roadmap and capability plan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What I would improve before production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current model is useful for prioritization; the next data layer enables causality and optimization.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924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Required data backlog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286000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22576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HISTORY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24–36 more months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2907792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9443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COMMERCIAL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9260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Price, promotion, inventory, distribution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529584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6616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MEDIA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Impressions, reach, creative, audience, campaign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4151376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187952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MARKET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416966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Holiday, weather, competitors, inflation, mobility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773168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80974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EXPERIMENT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4791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A"/>
                </a:solidFill>
              </a:rPr>
              <a:t>Geo-cell or customer holdout outcomes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99632" y="1481328"/>
            <a:ext cx="539496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Production model design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28232" y="2212848"/>
            <a:ext cx="461772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Adstock for delayed media impact.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Saturation curves for diminishing returns.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Hierarchical model by region or category.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Experiment calibration for causal lift.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Prediction intervals and scenario constraints.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Automated drift, retraining and approval workflow.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Critical leadership behavior: make uncertainty visible instead of hiding it behind a single ROI number.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90-day execution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Deliver immediate decision value while building the foundation for a reusable capability.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01568" cy="34290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1124712" cy="256032"/>
          </a:xfrm>
          <a:prstGeom prst="roundRect">
            <a:avLst>
              <a:gd name="adj" fmla="val 4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4708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0–30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Stabilize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90779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Validate units and definitions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Create KPI dictionary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Automate monthly ingestion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297680" y="1572768"/>
            <a:ext cx="3401568" cy="34290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810512"/>
            <a:ext cx="1124712" cy="256032"/>
          </a:xfrm>
          <a:prstGeom prst="roundRect">
            <a:avLst>
              <a:gd name="adj" fmla="val 42857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84708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31–60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07992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Prove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62272" y="2788920"/>
            <a:ext cx="290779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Design Digital / Radio tests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Add price and promotion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Launch prototype cockpit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28432" y="1572768"/>
            <a:ext cx="3401568" cy="34290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1810512"/>
            <a:ext cx="1124712" cy="256032"/>
          </a:xfrm>
          <a:prstGeom prst="roundRect">
            <a:avLst>
              <a:gd name="adj" fmla="val 42857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84708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61–90 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38744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Scale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3024" y="2788920"/>
            <a:ext cx="290779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Production MMM proof of value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Set model monitoring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17233A"/>
                </a:solidFill>
              </a:rPr>
              <a:t>Train analysts and stakeholders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66928" y="5285232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0160">
            <a:solidFill>
              <a:srgbClr val="DCE5F0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477256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Success measures: faster insight cycle | test-backed budget decisions | reusable semantic model | monitored production adoption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789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answer is not “spend more.”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80136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C7D9F1"/>
                </a:solidFill>
              </a:rPr>
              <a:t>It is to scale the strongest evidence, test uncertainty, and institutionalize learning.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1920240" cy="1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246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14B8A6"/>
                </a:solidFill>
              </a:rPr>
              <a:t>DIGITAL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Scale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246120" y="3246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3B82F6"/>
                </a:solidFill>
              </a:rPr>
              <a:t>RADIO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Validate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742432" y="3246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EF4444"/>
                </a:solidFill>
              </a:rPr>
              <a:t>TV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42432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Hold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915400" y="4983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Thank you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915400" y="5449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7D9F1"/>
                </a:solidFill>
              </a:rPr>
              <a:t>Abinash Sahu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LKQ India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Intelligence: From Spend to Incremental Growth</dc:title>
  <dc:subject>ABC Retail Sales and Marketing Effectiveness</dc:subject>
  <dc:creator>Abinash Sahu</dc:creator>
  <cp:lastModifiedBy>Abinash Sahu</cp:lastModifiedBy>
  <cp:revision>1</cp:revision>
  <dcterms:created xsi:type="dcterms:W3CDTF">2026-08-13T02:59:33Z</dcterms:created>
  <dcterms:modified xsi:type="dcterms:W3CDTF">2026-08-13T02:59:33Z</dcterms:modified>
</cp:coreProperties>
</file>