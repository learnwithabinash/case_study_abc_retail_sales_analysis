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ABC Retail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94A3B8"/>
                </a:solidFill>
              </a:rPr>
              <a:t>Marketing Channel Effectiveness &amp; Budget Optimisation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749039"/>
            <a:ext cx="21031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</a:rPr>
              <a:t>Marketing Mix Modeling  |  Data-Driven Budget Allocation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</a:rPr>
              <a:t>Abinash Sahu  |  Team Lead — Data Intelligence  |  August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Marketing Intelligence Case Study  |  Note: ABC Retail is a hypothetical company name (sample data)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Executive Summary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36 months of sales and marketing data, Jan 2020 – Dec 2022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23774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237744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TOTAL REVENUE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B82F6"/>
                </a:solidFill>
              </a:rPr>
              <a:t>$8,750M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3-year aggregate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1463040"/>
            <a:ext cx="23774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1463040"/>
            <a:ext cx="23774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6002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MODEL R-SQUARED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9202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0B981"/>
                </a:solidFill>
              </a:rPr>
              <a:t>89.5%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423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AIC 369.7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1463040"/>
            <a:ext cx="23774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60720" y="1463040"/>
            <a:ext cx="237744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16002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TOP 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19202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4B8A6"/>
                </a:solidFill>
              </a:rPr>
              <a:t>Digital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2423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Strongest positive driver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463040"/>
            <a:ext cx="23774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21040" y="1463040"/>
            <a:ext cx="237744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16002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OPTIMISATION UPLIFT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19202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59E0B"/>
                </a:solidFill>
              </a:rPr>
              <a:t>+31.7%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423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From budget reallocation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2918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1F3A"/>
                </a:solidFill>
              </a:rPr>
              <a:t>Q1: Only Digital and Radio are effective. TV has no measurable impact on sales.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1F3A"/>
                </a:solidFill>
              </a:rPr>
              <a:t>Q2: Digital is the most important channel (std coef 0.85, p &lt; 0.001).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1F3A"/>
                </a:solidFill>
              </a:rPr>
              <a:t>Q3: GDP, CPI, and unemployment are not significant after marketing controls.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1F3A"/>
                </a:solidFill>
              </a:rPr>
              <a:t>Q4: COVID did not structurally damage sales — marketing spend sustained demand.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1F3A"/>
                </a:solidFill>
              </a:rPr>
              <a:t>Recommendation: Reallocate budget for +31.7% media-effect uplift.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Methodology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Marketing Mix Modeling — industry-standard for channel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Adstock transformation: geometric decay to capture carryover effects (e.g., a TV ad impression persists for weeks).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Decay rates found via grid search (900 combinations, minimised AIC): Digital λ=0.1, Radio λ=0.3, TV λ=0.9.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Diminishing returns: log(1+x) saturation models decreasing marginal effectiveness at higher spend levels.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Robust inference: HC3 standard errors handle heteroscedasticity; standard errors remain valid with small samples.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Cross-validation: Leave-One-Out CV with Ridge regression — tests predictive accuracy on unseen data.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Additional macro signals: CPI (inflation) and unemployment rate alongside GDP, sourced from BLS.gov.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Confounders: seasonality (sin/cos), time trend, COVID lockdown and relaxation phase dummies.</a:t>
            </a:r>
          </a:p>
        </p:txBody>
      </p:sp>
      <p:pic>
        <p:nvPicPr>
          <p:cNvPr id="4" name="Picture 3" descr="06_adstock_dec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303520" cy="27253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Channel Effectiveness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Standardised coefficients — who drives sales?</a:t>
            </a:r>
          </a:p>
        </p:txBody>
      </p:sp>
      <p:pic>
        <p:nvPicPr>
          <p:cNvPr id="3" name="Picture 2" descr="07_standardized_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943600" cy="39266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7512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Digital: standardised β = 0.85, p &lt; 0.001 — the strongest sales driver by a significant margin.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Radio: standardised β = 0.56, p &lt; 0.001 — second strongest, and potentially under-invested.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TV: β = –0.27, p = 0.19 — not significant. Possibly too small a budget to detect, or genuinely ineffective at this scale.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None of the macro or COVID variables are significant after controlling for media spend.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Digital — The Growth Engine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Highest impact, proven ROI, but approaching saturation</a:t>
            </a:r>
          </a:p>
        </p:txBody>
      </p:sp>
      <p:pic>
        <p:nvPicPr>
          <p:cNvPr id="3" name="Picture 2" descr="16_digital_sat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669280" cy="3186384"/>
          </a:xfrm>
          <a:prstGeom prst="rect">
            <a:avLst/>
          </a:prstGeom>
        </p:spPr>
      </p:pic>
      <p:pic>
        <p:nvPicPr>
          <p:cNvPr id="4" name="Picture 3" descr="05_channel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486400" cy="18659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Marginal ROI: $1.32 additional sales per $1 of Digital spend (at current levels).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Strong correlation with sales (r = 0.77) — consistent month after month.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Saturation curve shows diminishing returns above ~$100M/month — indicates room to redistribute excess.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Fast decay (λ = 0.15) — Digital is a "pull" channel with immediate response. Requires consistent investment.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Radio &amp; TV Assessment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Radio is under-invested; TV has no detectable effect</a:t>
            </a:r>
          </a:p>
        </p:txBody>
      </p:sp>
      <p:pic>
        <p:nvPicPr>
          <p:cNvPr id="3" name="Picture 2" descr="08_channel_r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30574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548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Radio marginal ROI: $7.07/$1 — higher than Digital because it is currently under-invested (only 13% of budget).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The optimizer recommends increasing Radio share from 13% to ~42% — subject to incrementality testing.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TV spend is measured in thousands (not millions) — effectively a rounding error in the budget (0.02%).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At this spend level, TV cannot be evaluated reliably. Recommendation: hold and measure before scaling.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COVID-19 Impact Analysis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Lockdown did not collapse sales — marketing sustained demand</a:t>
            </a:r>
          </a:p>
        </p:txBody>
      </p:sp>
      <p:pic>
        <p:nvPicPr>
          <p:cNvPr id="3" name="Picture 2" descr="09_covid_impact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858000" cy="32208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64592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Lockdown coefficient: +$11.5M, p = 0.990 — not significant.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Relaxation coefficient: –$80.1M, p = 0.618 — not significant.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ABC increased digital spend during lockdown ($57M vs $49M pre-COVID), offsetting reduced foot traffic.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The real sales dip (Q3 2020, $179M avg) coincided with marketing budget cuts, not COVID restrictions.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Implication: ABC controls its own sales trajectory through marketing. COVID was not a structural break.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Macro-Economic Factors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GDP, CPI, CA Unemployment, Sentiment — none significant after media controls</a:t>
            </a:r>
          </a:p>
        </p:txBody>
      </p:sp>
      <p:pic>
        <p:nvPicPr>
          <p:cNvPr id="3" name="Picture 2" descr="02_quarterly_sales_gd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858000" cy="29319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64592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GDP quarterly change: p = 0.584. No significant effect despite Q2 2020 drop (–29.9% GDP).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CPI YoY (Inflation): p = 0.669. Inflation peaked at 9.1% — no sales impact detected.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CA Unemployment: p = 0.700. CA peak of 16.4% in May 2020 did not alter demand.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Consumer Sentiment &amp; E-Commerce %: Sentiment (p=0.558) &amp; E-Commerce % (p=0.851) are also not significant after media controls.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Bay Area market insight: ABC sales are driven by marketing execution and brand awareness in target demographic (12-45 yrs), not macro cycles.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Budget Optimisation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Constrained reallocation — predicted uplift +31.7%</a:t>
            </a:r>
          </a:p>
        </p:txBody>
      </p:sp>
      <p:pic>
        <p:nvPicPr>
          <p:cNvPr id="3" name="Picture 2" descr="10_budget_allo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858000" cy="35384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64592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Current: Digital 87%, Radio 13%, TV ~0%.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Optimal: Digital 54%, Radio 46%, TV 0%.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The shift reflects diminishing returns on Digital — at current high spend, each incremental dollar yields less.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Radio is under-saturated: high marginal ROI ($7.07/$1) means reallocating here creates more value per dollar.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This model recommendation delivers +31.7% uplift from the same $3,033M budget. Validate via geo holdout tests.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Sensitivity Analysis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Budget elasticity and scenario planning</a:t>
            </a:r>
          </a:p>
        </p:txBody>
      </p:sp>
      <p:pic>
        <p:nvPicPr>
          <p:cNvPr id="3" name="Picture 2" descr="11_sensitivity_tor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400800" cy="33005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Increasing total budget by 30% yields diminishing incremental returns — consistent with saturation.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Cutting budget by 20% results in meaningful loss, confirming marketing is a revenue driver.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The optimal mix (58/42 Digital/Radio) is stable across budget scenarios.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This sensitivity analysis helps leadership evaluate trade-offs in budget negotiation.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Leadership Action Roadmap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30 / 60 / 90 day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30 DAYS —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Validate channel data definitions and units.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Establish repeatable monthly data pipeline.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Set up Digital A/B testing framework.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Create KPI dictionary and reporting cadence.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3755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60 DAYS —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703319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Run Digital and Radio incrementality tests (geo holdout or matched-market).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Add pricing, promotions, holidays, and competitor signals to the model.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Begin shift of 10–15% budget from Digital to Radio as a pilot.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0059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90 DAYS —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166358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Deploy production MMM with automated monthly refresh.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Build budget allocation engine with approval workflow.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Establish model governance: drift monitoring, version control.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Present quarterly business review with updated ROI estimates.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Appendix — Model Diagnostics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Residuals, VIF, and cross-validation results</a:t>
            </a:r>
          </a:p>
        </p:txBody>
      </p:sp>
      <p:pic>
        <p:nvPicPr>
          <p:cNvPr id="3" name="Picture 2" descr="13_residual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858000" cy="51847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64592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R²: 0.895  |  Adj R²: 0.834  |  LOOCV R²: 0.697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AIC: 369.7  |  BIC: 391.8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Durbin-Watson: 3.071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Breusch-Pagan p-value: 0.3142 (homoscedastic)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HC3 robust standard errors used throughout — valid under heteroscedasticity.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Leave-One-Out CV with Ridge (alpha=10) — unbiased out-of-sample estimate.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Grid search tested 900 adstock decay combinations.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Caveats: n=36, no geography/pricing/competitor data. Treat as test-and-learn priorities.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Glossary of Marketing &amp; Econometric Terms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Plain-English definitions &amp; real-world analogies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Adstock (Ad Memory Decay): Advertising impact does not vanish immediately; a fraction carries over into future weeks/months (e.g. coffee carryover effect).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Log-Saturation (Diminishing Returns): As ad spend increases, each additional dollar generates less sales lift because high-intent audiences become exhausted (e.g. 1st vs 10th pizza slice).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Marginal ROI: The extra revenue generated by spending the NEXT $1 today ($7.07 Radio vs $1.32 Digital). Contrasts with historical average ROI.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Standardised Coefficient (β*): Scales channel drivers from -1 to +1 so we can compare "apples to elephants" across different measurement units.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P-Value &amp; Significance: Probability that a result was caused by random luck. p &lt; 0.05 means &lt;5% chance of luck (statistically significant).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LOOCV R-Squared: Leave-One-Out Cross Validation accuracy. Tests model predictions on hidden out-of-sample data to ensure zero overfitting.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HC3 Robust Standard Errors: A small-sample correction (n=36) that prevents false-positive claims caused by unequal error variances.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